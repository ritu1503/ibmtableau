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embeddedFontLst>
    <p:embeddedFont>
      <p:font typeface="Arimo" panose="020B0604020202020204" pitchFamily="34" charset="0"/>
      <p:regular r:id="rId15"/>
    </p:embeddedFont>
    <p:embeddedFont>
      <p:font typeface="Arimo" panose="020B0604020202020204" pitchFamily="34" charset="-122"/>
      <p:regular r:id="rId16"/>
    </p:embeddedFont>
    <p:embeddedFont>
      <p:font typeface="Arimo" panose="020B0604020202020204" pitchFamily="34" charset="-120"/>
      <p:regular r:id="rId17"/>
    </p:embeddedFont>
    <p:embeddedFont>
      <p:font typeface="Anton" pitchFamily="34" charset="0"/>
      <p:regular r:id="rId18"/>
    </p:embeddedFont>
    <p:embeddedFont>
      <p:font typeface="Anton" pitchFamily="34" charset="-122"/>
      <p:regular r:id="rId19"/>
    </p:embeddedFont>
    <p:embeddedFont>
      <p:font typeface="Anton" pitchFamily="34" charset="-120"/>
      <p:regular r:id="rId20"/>
    </p:embeddedFont>
    <p:embeddedFont>
      <p:font typeface="Arimo Bold" panose="020B0604020202020204" pitchFamily="34" charset="0"/>
      <p:bold r:id="rId21"/>
    </p:embeddedFont>
    <p:embeddedFont>
      <p:font typeface="Arimo Bold" panose="020B0604020202020204" pitchFamily="34" charset="-122"/>
      <p:bold r:id="rId22"/>
    </p:embeddedFont>
    <p:embeddedFont>
      <p:font typeface="Arimo Bold" panose="020B0604020202020204" pitchFamily="34" charset="-12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B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5BE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9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hyperlink" Target="https://public.tableau.com/app/profile/rojalin.pradhan/viz/Tourist_Arrivals_to_India_2019_2021/TouristArrivalstoIndia2019-2021?publish=yes&#13;" TargetMode="Externa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715" y="2315210"/>
            <a:ext cx="2750820" cy="280035"/>
          </a:xfrm>
          <a:prstGeom prst="roundRect">
            <a:avLst>
              <a:gd name="adj" fmla="val 7899"/>
            </a:avLst>
          </a:prstGeom>
          <a:solidFill>
            <a:srgbClr val="CEE1FD"/>
          </a:solidFill>
        </p:spPr>
      </p:sp>
      <p:sp>
        <p:nvSpPr>
          <p:cNvPr id="3" name="Text 1"/>
          <p:cNvSpPr/>
          <p:nvPr/>
        </p:nvSpPr>
        <p:spPr>
          <a:xfrm>
            <a:off x="789525" y="2373491"/>
            <a:ext cx="2583988" cy="145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FINAL PROJECT PRESENTATION</a:t>
            </a:r>
            <a:endParaRPr lang="en-US" sz="1200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1908" y="2682617"/>
            <a:ext cx="10927878" cy="14341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Interactive Dashboard for Analyzing the Impact of COVID-19 on Tourist Arrivals to India 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31908" y="3915509"/>
            <a:ext cx="10927878" cy="7170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(2019–2021)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631908" y="4842828"/>
            <a:ext cx="11537463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An interactive analysis of international tourist arrivals to India from 2019 to 2021, visualizing the pandemic's impact on global travel. </a:t>
            </a:r>
            <a:endParaRPr lang="en-US" sz="1400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1908" y="6383973"/>
            <a:ext cx="11537463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Presented By: Rojalin Pradhan | St. Claret College Autonomous Bengaluru</a:t>
            </a:r>
            <a:endParaRPr lang="en-US" sz="1400" b="1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8170" y="6460490"/>
            <a:ext cx="141033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685429"/>
            <a:ext cx="868043" cy="240010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5BE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6660" y="1732756"/>
            <a:ext cx="1288125" cy="145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95BEFA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1988542"/>
            <a:ext cx="10927878" cy="519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Problem &amp; Purpose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31908" y="2745085"/>
            <a:ext cx="10927878" cy="379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The COVID-19 pandemic caused a sharp decline in international travel. Tourism data is often buried in large tables — this dashboard transforms that data into clear, interactive visuals for trend analysis and decision-making.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1908" y="3301802"/>
            <a:ext cx="3537258" cy="1870770"/>
          </a:xfrm>
          <a:prstGeom prst="roundRect">
            <a:avLst>
              <a:gd name="adj" fmla="val 1267"/>
            </a:avLst>
          </a:prstGeom>
          <a:solidFill>
            <a:srgbClr val="3E3E3E"/>
          </a:solidFill>
        </p:spPr>
      </p:sp>
      <p:sp>
        <p:nvSpPr>
          <p:cNvPr id="7" name="Shape 5"/>
          <p:cNvSpPr/>
          <p:nvPr/>
        </p:nvSpPr>
        <p:spPr>
          <a:xfrm>
            <a:off x="789861" y="3459758"/>
            <a:ext cx="473857" cy="473869"/>
          </a:xfrm>
          <a:prstGeom prst="ellipse">
            <a:avLst/>
          </a:prstGeom>
          <a:solidFill>
            <a:srgbClr val="95BEFA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132" y="3590032"/>
            <a:ext cx="213216" cy="2132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9861" y="4091583"/>
            <a:ext cx="3221354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9861" y="4446091"/>
            <a:ext cx="3221354" cy="5685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Large data tables make it difficult to identify trends and compare year-over-year changes in tourist arrivals.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7119" y="3301802"/>
            <a:ext cx="3537358" cy="1870770"/>
          </a:xfrm>
          <a:prstGeom prst="roundRect">
            <a:avLst>
              <a:gd name="adj" fmla="val 1267"/>
            </a:avLst>
          </a:prstGeom>
          <a:solidFill>
            <a:srgbClr val="3E3E3E"/>
          </a:solidFill>
        </p:spPr>
      </p:sp>
      <p:sp>
        <p:nvSpPr>
          <p:cNvPr id="12" name="Shape 9"/>
          <p:cNvSpPr/>
          <p:nvPr/>
        </p:nvSpPr>
        <p:spPr>
          <a:xfrm>
            <a:off x="4485071" y="3459758"/>
            <a:ext cx="473857" cy="473869"/>
          </a:xfrm>
          <a:prstGeom prst="ellipse">
            <a:avLst/>
          </a:prstGeom>
          <a:solidFill>
            <a:srgbClr val="95BEFA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342" y="3590032"/>
            <a:ext cx="213216" cy="2132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5071" y="4091583"/>
            <a:ext cx="3221453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85071" y="4446091"/>
            <a:ext cx="3221453" cy="5685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An interactive Tableau dashboard with filters, maps, and charts to visualize the pandemic's impact on India's tourism.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22429" y="3301802"/>
            <a:ext cx="3537258" cy="1870770"/>
          </a:xfrm>
          <a:prstGeom prst="roundRect">
            <a:avLst>
              <a:gd name="adj" fmla="val 1267"/>
            </a:avLst>
          </a:prstGeom>
          <a:solidFill>
            <a:srgbClr val="3E3E3E"/>
          </a:solidFill>
        </p:spPr>
      </p:sp>
      <p:sp>
        <p:nvSpPr>
          <p:cNvPr id="17" name="Shape 13"/>
          <p:cNvSpPr/>
          <p:nvPr/>
        </p:nvSpPr>
        <p:spPr>
          <a:xfrm>
            <a:off x="8180381" y="3459758"/>
            <a:ext cx="473857" cy="473869"/>
          </a:xfrm>
          <a:prstGeom prst="ellipse">
            <a:avLst/>
          </a:prstGeom>
          <a:solidFill>
            <a:srgbClr val="95BEFA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0652" y="3590032"/>
            <a:ext cx="213216" cy="2132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0381" y="4091583"/>
            <a:ext cx="3221354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Scope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80381" y="4446091"/>
            <a:ext cx="3221354" cy="5685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Covers 2019–2021 data, classified by country and region of nationality, sourced from the Ministry of Tourism.</a:t>
            </a:r>
            <a:endParaRPr lang="en-US" sz="12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020" y="6538595"/>
            <a:ext cx="1092835" cy="31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73385"/>
            <a:ext cx="10927878" cy="493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Project Objectives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1908" y="1352252"/>
            <a:ext cx="10927878" cy="3512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This dashboard is designed to support tourism researchers, policymakers, students, and analysts in understanding how a global event reshaped India's international tourism landscape.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31908" y="1901329"/>
            <a:ext cx="10927878" cy="19050"/>
          </a:xfrm>
          <a:prstGeom prst="roundRect">
            <a:avLst>
              <a:gd name="adj" fmla="val 59999"/>
            </a:avLst>
          </a:prstGeom>
          <a:solidFill>
            <a:srgbClr val="D6DAE0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31908" y="2260798"/>
            <a:ext cx="5506701" cy="296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Goals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1908" y="2717304"/>
            <a:ext cx="150015" cy="1040606"/>
          </a:xfrm>
          <a:prstGeom prst="roundRect">
            <a:avLst>
              <a:gd name="adj" fmla="val 15006"/>
            </a:avLst>
          </a:prstGeom>
          <a:solidFill>
            <a:srgbClr val="3E3E3E"/>
          </a:solidFill>
        </p:spPr>
      </p:sp>
      <p:sp>
        <p:nvSpPr>
          <p:cNvPr id="7" name="Text 5"/>
          <p:cNvSpPr/>
          <p:nvPr/>
        </p:nvSpPr>
        <p:spPr>
          <a:xfrm>
            <a:off x="924497" y="2867323"/>
            <a:ext cx="5214113" cy="24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Analyse Arrival Trends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24497" y="3256657"/>
            <a:ext cx="5214113" cy="3512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Examine international tourist arrivals to India across 2019, 2020, and 2021 to identify pandemic-driven patterns.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56931" y="3900488"/>
            <a:ext cx="150015" cy="1040606"/>
          </a:xfrm>
          <a:prstGeom prst="roundRect">
            <a:avLst>
              <a:gd name="adj" fmla="val 15006"/>
            </a:avLst>
          </a:prstGeom>
          <a:solidFill>
            <a:srgbClr val="3E3E3E"/>
          </a:solidFill>
        </p:spPr>
      </p:sp>
      <p:sp>
        <p:nvSpPr>
          <p:cNvPr id="10" name="Text 8"/>
          <p:cNvSpPr/>
          <p:nvPr/>
        </p:nvSpPr>
        <p:spPr>
          <a:xfrm>
            <a:off x="1149520" y="4050506"/>
            <a:ext cx="4989090" cy="24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Compare by Country &amp; Region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9520" y="4439841"/>
            <a:ext cx="4989090" cy="3512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Enable side-by-side comparison of tourist arrivals across different countries and global regions.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82053" y="5083671"/>
            <a:ext cx="150015" cy="1040606"/>
          </a:xfrm>
          <a:prstGeom prst="roundRect">
            <a:avLst>
              <a:gd name="adj" fmla="val 15006"/>
            </a:avLst>
          </a:prstGeom>
          <a:solidFill>
            <a:srgbClr val="3E3E3E"/>
          </a:solidFill>
        </p:spPr>
      </p:sp>
      <p:sp>
        <p:nvSpPr>
          <p:cNvPr id="13" name="Text 11"/>
          <p:cNvSpPr/>
          <p:nvPr/>
        </p:nvSpPr>
        <p:spPr>
          <a:xfrm>
            <a:off x="1374641" y="5233690"/>
            <a:ext cx="4763968" cy="24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Enable Interactive Exploration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74641" y="5623024"/>
            <a:ext cx="4763968" cy="3512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Allow users to filter and explore data dynamically by year and geography for self-driven analysis.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1068" y="2260798"/>
            <a:ext cx="5054970" cy="296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Target Audience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511068" y="2699544"/>
            <a:ext cx="5664554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This dashboard is designed to work for: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1068" y="3003451"/>
            <a:ext cx="5054970" cy="8518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98000"/>
              </a:lnSpc>
              <a:buSzPct val="100000"/>
              <a:buChar char="•"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Tourism researchers &amp; analysts</a:t>
            </a:r>
            <a:endParaRPr lang="en-US" sz="1150" dirty="0"/>
          </a:p>
          <a:p>
            <a:pPr marL="233680" indent="-233680" algn="l">
              <a:lnSpc>
                <a:spcPct val="98000"/>
              </a:lnSpc>
              <a:buSzPct val="100000"/>
              <a:buChar char="•"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Government policymakers</a:t>
            </a:r>
            <a:endParaRPr lang="en-US" sz="1150" dirty="0"/>
          </a:p>
          <a:p>
            <a:pPr marL="233680" indent="-233680" algn="l">
              <a:lnSpc>
                <a:spcPct val="98000"/>
              </a:lnSpc>
              <a:buSzPct val="100000"/>
              <a:buChar char="•"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Students &amp; academics</a:t>
            </a:r>
            <a:endParaRPr lang="en-US" sz="1150" dirty="0"/>
          </a:p>
          <a:p>
            <a:pPr marL="233680" indent="-233680" algn="l">
              <a:lnSpc>
                <a:spcPct val="98000"/>
              </a:lnSpc>
              <a:buSzPct val="100000"/>
              <a:buChar char="•"/>
            </a:pPr>
            <a:r>
              <a:rPr lang="en-US" sz="115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Travel industry planners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11068" y="4015680"/>
            <a:ext cx="5054970" cy="682823"/>
          </a:xfrm>
          <a:prstGeom prst="roundRect">
            <a:avLst>
              <a:gd name="adj" fmla="val 3297"/>
            </a:avLst>
          </a:prstGeom>
          <a:solidFill>
            <a:srgbClr val="121212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083" y="4205287"/>
            <a:ext cx="187519" cy="15001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98616" y="4181475"/>
            <a:ext cx="4417406" cy="3512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All visualizations update simultaneously when a filter is applied, enabling truly dynamic data exploration.</a:t>
            </a:r>
            <a:endParaRPr lang="en-US" sz="11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020" y="6538595"/>
            <a:ext cx="1092835" cy="31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40123"/>
            <a:ext cx="10927878" cy="519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Dataset Description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975644"/>
            <a:ext cx="10927878" cy="3790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The dataset is published by the </a:t>
            </a:r>
            <a:r>
              <a:rPr lang="en-US" sz="1600" b="1" dirty="0">
                <a:solidFill>
                  <a:srgbClr val="D6DAE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Ministry of Tourism</a:t>
            </a:r>
            <a:r>
              <a:rPr lang="en-US" sz="16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on the Open Government Data (OGD) Platform India, sourced from the Bureau of Immigration, Government of India.</a:t>
            </a:r>
            <a:endParaRPr lang="en-US" sz="1600" dirty="0">
              <a:solidFill>
                <a:srgbClr val="D6DAE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1908" y="2674541"/>
            <a:ext cx="4466617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4225" y="3176905"/>
            <a:ext cx="3114675" cy="2242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15255" y="2674541"/>
            <a:ext cx="4466617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346835" y="4446905"/>
            <a:ext cx="5155565" cy="972820"/>
            <a:chOff x="824" y="7651"/>
            <a:chExt cx="6810" cy="1532"/>
          </a:xfrm>
        </p:grpSpPr>
        <p:sp>
          <p:nvSpPr>
            <p:cNvPr id="13" name="Shape 6"/>
            <p:cNvSpPr/>
            <p:nvPr/>
          </p:nvSpPr>
          <p:spPr>
            <a:xfrm>
              <a:off x="824" y="7651"/>
              <a:ext cx="6810" cy="1532"/>
            </a:xfrm>
            <a:prstGeom prst="roundRect">
              <a:avLst>
                <a:gd name="adj" fmla="val 2612"/>
              </a:avLst>
            </a:prstGeom>
            <a:noFill/>
            <a:ln w="19050">
              <a:solidFill>
                <a:srgbClr val="95BEFA"/>
              </a:solidFill>
            </a:ln>
          </p:spPr>
        </p:sp>
        <p:sp>
          <p:nvSpPr>
            <p:cNvPr id="7" name="Text 4"/>
            <p:cNvSpPr/>
            <p:nvPr/>
          </p:nvSpPr>
          <p:spPr>
            <a:xfrm>
              <a:off x="995" y="7824"/>
              <a:ext cx="6405" cy="426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95BEFA"/>
                  </a:solidFill>
                  <a:latin typeface="Anton" pitchFamily="34" charset="0"/>
                  <a:ea typeface="Anton" pitchFamily="34" charset="-122"/>
                  <a:cs typeface="Anton" pitchFamily="34" charset="-120"/>
                </a:rPr>
                <a:t>Dataset Name</a:t>
              </a:r>
              <a:endParaRPr lang="en-US" sz="16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995" y="8482"/>
              <a:ext cx="6579" cy="35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D6DAE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Nationality-wise Foreign Tourist Arrivals in India (2017–2021)</a:t>
              </a:r>
              <a:endParaRPr lang="en-US" sz="1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346835" y="3176905"/>
            <a:ext cx="5579110" cy="906780"/>
            <a:chOff x="9734" y="7575"/>
            <a:chExt cx="9371" cy="1428"/>
          </a:xfrm>
        </p:grpSpPr>
        <p:sp>
          <p:nvSpPr>
            <p:cNvPr id="9" name="Shape 6"/>
            <p:cNvSpPr/>
            <p:nvPr/>
          </p:nvSpPr>
          <p:spPr>
            <a:xfrm>
              <a:off x="9734" y="7575"/>
              <a:ext cx="8659" cy="1429"/>
            </a:xfrm>
            <a:prstGeom prst="roundRect">
              <a:avLst>
                <a:gd name="adj" fmla="val 2612"/>
              </a:avLst>
            </a:prstGeom>
            <a:solidFill>
              <a:srgbClr val="95BEFA"/>
            </a:solidFill>
          </p:spPr>
        </p:sp>
        <p:sp>
          <p:nvSpPr>
            <p:cNvPr id="10" name="Text 7"/>
            <p:cNvSpPr/>
            <p:nvPr/>
          </p:nvSpPr>
          <p:spPr>
            <a:xfrm>
              <a:off x="9983" y="7824"/>
              <a:ext cx="8162" cy="40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Anton" pitchFamily="34" charset="0"/>
                  <a:ea typeface="Anton" pitchFamily="34" charset="-122"/>
                  <a:cs typeface="Anton" pitchFamily="34" charset="-120"/>
                </a:rPr>
                <a:t>Analysis Dimensions</a:t>
              </a:r>
              <a:endParaRPr lang="en-US" sz="1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9983" y="8482"/>
              <a:ext cx="9122" cy="29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Year-wise · Country-wise · Region-wise</a:t>
              </a:r>
              <a:endParaRPr lang="en-US" sz="1200" dirty="0"/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020" y="6538595"/>
            <a:ext cx="1092835" cy="31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50777"/>
            <a:ext cx="2109139" cy="145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21212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DASHBOARD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31908" y="1706563"/>
            <a:ext cx="10927878" cy="7170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the Dashboard Shows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31908" y="2660551"/>
            <a:ext cx="11537463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Six integrated visualizations work together — when any filter is applied, all charts update simultaneously for a seamless analytical experience.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1908" y="3067248"/>
            <a:ext cx="10927878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31908" y="3303488"/>
            <a:ext cx="10927878" cy="1428452"/>
          </a:xfrm>
          <a:prstGeom prst="roundRect">
            <a:avLst>
              <a:gd name="adj" fmla="val 1659"/>
            </a:avLst>
          </a:prstGeom>
          <a:solidFill>
            <a:srgbClr val="3E3E3E"/>
          </a:solidFill>
        </p:spPr>
      </p:sp>
      <p:sp>
        <p:nvSpPr>
          <p:cNvPr id="7" name="Shape 5"/>
          <p:cNvSpPr/>
          <p:nvPr/>
        </p:nvSpPr>
        <p:spPr>
          <a:xfrm>
            <a:off x="631908" y="3303488"/>
            <a:ext cx="3642626" cy="1428452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8" name="Text 6"/>
          <p:cNvSpPr/>
          <p:nvPr/>
        </p:nvSpPr>
        <p:spPr>
          <a:xfrm>
            <a:off x="789861" y="3461445"/>
            <a:ext cx="3089793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Trend 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9861" y="3815953"/>
            <a:ext cx="3089793" cy="7580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Displays yearly international tourist arrival trends, clearly highlighting the dramatic decline during the COVID-19 pandemic years.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4534" y="3303488"/>
            <a:ext cx="3642626" cy="1428452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11" name="Shape 9"/>
          <p:cNvSpPr/>
          <p:nvPr/>
        </p:nvSpPr>
        <p:spPr>
          <a:xfrm>
            <a:off x="4274534" y="3303488"/>
            <a:ext cx="19050" cy="1428452"/>
          </a:xfrm>
          <a:prstGeom prst="roundRect">
            <a:avLst>
              <a:gd name="adj" fmla="val 124393"/>
            </a:avLst>
          </a:prstGeom>
          <a:solidFill>
            <a:srgbClr val="2B2B2B"/>
          </a:solidFill>
        </p:spPr>
      </p:sp>
      <p:sp>
        <p:nvSpPr>
          <p:cNvPr id="12" name="Text 10"/>
          <p:cNvSpPr/>
          <p:nvPr/>
        </p:nvSpPr>
        <p:spPr>
          <a:xfrm>
            <a:off x="4669415" y="3461445"/>
            <a:ext cx="2852865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9415" y="3815953"/>
            <a:ext cx="2852865" cy="5685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Visualizes tourist arrivals by country of origin with region-based filtering for geographic exploration.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77094" y="3820220"/>
            <a:ext cx="394881" cy="394891"/>
          </a:xfrm>
          <a:prstGeom prst="roundRect">
            <a:avLst>
              <a:gd name="adj" fmla="val 6001"/>
            </a:avLst>
          </a:prstGeom>
          <a:solidFill>
            <a:srgbClr val="95BEFA"/>
          </a:solidFill>
          <a:ln w="19050">
            <a:solidFill>
              <a:srgbClr val="2B2B2B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5814" y="3918843"/>
            <a:ext cx="197440" cy="19744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917161" y="3303488"/>
            <a:ext cx="3642626" cy="1428452"/>
          </a:xfrm>
          <a:prstGeom prst="rect">
            <a:avLst/>
          </a:prstGeom>
          <a:solidFill>
            <a:srgbClr val="121212"/>
          </a:solidFill>
        </p:spPr>
      </p:sp>
      <p:sp>
        <p:nvSpPr>
          <p:cNvPr id="17" name="Shape 14"/>
          <p:cNvSpPr/>
          <p:nvPr/>
        </p:nvSpPr>
        <p:spPr>
          <a:xfrm>
            <a:off x="7917161" y="3303488"/>
            <a:ext cx="19050" cy="1428452"/>
          </a:xfrm>
          <a:prstGeom prst="roundRect">
            <a:avLst>
              <a:gd name="adj" fmla="val 124393"/>
            </a:avLst>
          </a:prstGeom>
          <a:solidFill>
            <a:srgbClr val="2B2B2B"/>
          </a:solidFill>
        </p:spPr>
      </p:sp>
      <p:sp>
        <p:nvSpPr>
          <p:cNvPr id="18" name="Text 15"/>
          <p:cNvSpPr/>
          <p:nvPr/>
        </p:nvSpPr>
        <p:spPr>
          <a:xfrm>
            <a:off x="8312041" y="3461445"/>
            <a:ext cx="3089793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Bar &amp; Pie Charts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12041" y="3815953"/>
            <a:ext cx="3089793" cy="5685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Country-wise bar chart for arrival comparisons; region-wise pie chart showing the global distribution of visitors to India.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19720" y="3820220"/>
            <a:ext cx="394881" cy="394891"/>
          </a:xfrm>
          <a:prstGeom prst="roundRect">
            <a:avLst>
              <a:gd name="adj" fmla="val 6001"/>
            </a:avLst>
          </a:prstGeom>
          <a:solidFill>
            <a:srgbClr val="95BEFA"/>
          </a:solidFill>
          <a:ln w="19050">
            <a:solidFill>
              <a:srgbClr val="2B2B2B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440" y="3918843"/>
            <a:ext cx="197440" cy="19744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8837" y="5087342"/>
            <a:ext cx="11300534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 </a:t>
            </a:r>
            <a:r>
              <a:rPr lang="en-US" sz="12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Year Filter</a:t>
            </a:r>
            <a:r>
              <a:rPr lang="en-US" sz="12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lets users switch between 2019, 2020, and 2021 - all visualizations respond instantly, enabling dynamic comparative analysis.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1908" y="4909641"/>
            <a:ext cx="19050" cy="544909"/>
          </a:xfrm>
          <a:prstGeom prst="roundRect">
            <a:avLst>
              <a:gd name="adj" fmla="val 59999"/>
            </a:avLst>
          </a:prstGeom>
          <a:solidFill>
            <a:srgbClr val="95BEFA"/>
          </a:solidFill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170" y="6460490"/>
            <a:ext cx="141033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75167"/>
            <a:ext cx="10927878" cy="519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Expected Outcomes</a:t>
            </a:r>
            <a:endParaRPr lang="en-US" sz="3600" dirty="0">
              <a:solidFill>
                <a:srgbClr val="95BEFA"/>
              </a:solidFill>
              <a:latin typeface="Anton" pitchFamily="34" charset="0"/>
              <a:ea typeface="Anton" pitchFamily="34" charset="-122"/>
              <a:cs typeface="Anton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1908" y="1848763"/>
            <a:ext cx="11537463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The dashboard is designed to deliver clear, actionable insights into how COVID-19 reshaped India's international tourism </a:t>
            </a:r>
            <a:endParaRPr lang="en-US" sz="1600" dirty="0">
              <a:solidFill>
                <a:srgbClr val="D6DAE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sector across three critical years.</a:t>
            </a:r>
            <a:endParaRPr lang="en-US" sz="1600" dirty="0">
              <a:solidFill>
                <a:srgbClr val="D6DAE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1825" y="3046095"/>
            <a:ext cx="5001260" cy="2892425"/>
            <a:chOff x="637" y="6699"/>
            <a:chExt cx="8659" cy="2083"/>
          </a:xfrm>
        </p:grpSpPr>
        <p:sp>
          <p:nvSpPr>
            <p:cNvPr id="10" name="Shape 4"/>
            <p:cNvSpPr/>
            <p:nvPr/>
          </p:nvSpPr>
          <p:spPr>
            <a:xfrm>
              <a:off x="637" y="6699"/>
              <a:ext cx="8659" cy="2083"/>
            </a:xfrm>
            <a:prstGeom prst="roundRect">
              <a:avLst>
                <a:gd name="adj" fmla="val 1809"/>
              </a:avLst>
            </a:prstGeom>
            <a:noFill/>
            <a:ln w="19050">
              <a:solidFill>
                <a:srgbClr val="95BEFA"/>
              </a:solidFill>
            </a:ln>
          </p:spPr>
        </p:sp>
        <p:sp>
          <p:nvSpPr>
            <p:cNvPr id="5" name="Text 2"/>
            <p:cNvSpPr/>
            <p:nvPr/>
          </p:nvSpPr>
          <p:spPr>
            <a:xfrm>
              <a:off x="995" y="7123"/>
              <a:ext cx="8301" cy="40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95BEFA"/>
                  </a:solidFill>
                  <a:latin typeface="Anton" pitchFamily="34" charset="0"/>
                  <a:ea typeface="Anton" pitchFamily="34" charset="-122"/>
                  <a:cs typeface="Anton" pitchFamily="34" charset="-120"/>
                </a:rPr>
                <a:t>| Key Insight Enabled</a:t>
              </a:r>
              <a:endParaRPr lang="en-US" sz="240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995" y="7606"/>
              <a:ext cx="8301" cy="10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243840" indent="-24384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D6DAE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Visualise the scale of pandemic impact</a:t>
              </a:r>
              <a:endParaRPr lang="en-US" sz="1600" dirty="0"/>
            </a:p>
            <a:p>
              <a:pPr marL="243840" indent="-24384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D6DAE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Compare arrivals across all three years</a:t>
              </a:r>
              <a:endParaRPr lang="en-US" sz="1600" dirty="0"/>
            </a:p>
            <a:p>
              <a:pPr marL="243840" indent="-24384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D6DAE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Spot top source countries &amp; regions</a:t>
              </a:r>
              <a:endParaRPr lang="en-US" sz="16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015990" y="3041650"/>
            <a:ext cx="5066030" cy="2878455"/>
            <a:chOff x="9734" y="6699"/>
            <a:chExt cx="8659" cy="2063"/>
          </a:xfrm>
        </p:grpSpPr>
        <p:sp>
          <p:nvSpPr>
            <p:cNvPr id="7" name="Shape 4"/>
            <p:cNvSpPr/>
            <p:nvPr/>
          </p:nvSpPr>
          <p:spPr>
            <a:xfrm>
              <a:off x="9734" y="6699"/>
              <a:ext cx="8659" cy="2063"/>
            </a:xfrm>
            <a:prstGeom prst="roundRect">
              <a:avLst>
                <a:gd name="adj" fmla="val 1809"/>
              </a:avLst>
            </a:prstGeom>
            <a:solidFill>
              <a:srgbClr val="95BEFA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9983" y="7099"/>
              <a:ext cx="8162" cy="40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000000"/>
                  </a:solidFill>
                  <a:latin typeface="Anton" pitchFamily="34" charset="0"/>
                  <a:ea typeface="Anton" pitchFamily="34" charset="-122"/>
                  <a:cs typeface="Anton" pitchFamily="34" charset="-120"/>
                </a:rPr>
                <a:t>| Decision Support For</a:t>
              </a:r>
              <a:endParaRPr lang="en-US" sz="24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9983" y="7606"/>
              <a:ext cx="8162" cy="10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243840" indent="-24384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00000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Tourism recovery planning</a:t>
              </a:r>
              <a:endParaRPr lang="en-US" sz="1600" dirty="0"/>
            </a:p>
            <a:p>
              <a:pPr marL="243840" indent="-24384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00000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Policy &amp; resource allocation</a:t>
              </a:r>
              <a:endParaRPr lang="en-US" sz="1600" dirty="0"/>
            </a:p>
            <a:p>
              <a:pPr marL="243840" indent="-24384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000000"/>
                  </a:solidFill>
                  <a:latin typeface="Arimo" panose="020B0604020202020204" pitchFamily="34" charset="0"/>
                  <a:ea typeface="Arimo" panose="020B0604020202020204" pitchFamily="34" charset="-122"/>
                  <a:cs typeface="Arimo" panose="020B0604020202020204" pitchFamily="34" charset="-120"/>
                </a:rPr>
                <a:t>Academic research &amp; reporting</a:t>
              </a:r>
              <a:endParaRPr lang="en-US" sz="16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020" y="6538595"/>
            <a:ext cx="1092835" cy="31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343819"/>
            <a:ext cx="10927878" cy="519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5BEF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Dashboard Visualizations at a Glance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2179340"/>
            <a:ext cx="11537463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Each visualization in the dashboard serves a specific analytical purpose, together forming a comprehensive picture of India's tourism from 2019 to 2021.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2546548"/>
            <a:ext cx="394881" cy="394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3138884"/>
            <a:ext cx="5365219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Trend Line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1908" y="3493393"/>
            <a:ext cx="5365219" cy="379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Year-over-year arrival trend showing the pandemic dip clearly across 2019–2021.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4568" y="2546548"/>
            <a:ext cx="394881" cy="3948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4568" y="3138884"/>
            <a:ext cx="5365219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4568" y="3493393"/>
            <a:ext cx="5365219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Country-level geographic view of arrivals with region-based filter controls.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188321"/>
            <a:ext cx="394881" cy="3948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1908" y="4780657"/>
            <a:ext cx="5365219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Country Bar Chart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31908" y="5135166"/>
            <a:ext cx="5365219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Ranks countries by tourist arrivals for quick identification of top contributors.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4568" y="4188321"/>
            <a:ext cx="394881" cy="3948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4568" y="4780657"/>
            <a:ext cx="5365219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AE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Region Pie Chart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4568" y="5135166"/>
            <a:ext cx="5365219" cy="379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AE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Shows proportional distribution of tourists across Asia, Europe, Americas, and other regions.</a:t>
            </a:r>
            <a:endParaRPr lang="en-US" sz="1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825" y="4272915"/>
            <a:ext cx="502920" cy="5181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005" y="2659380"/>
            <a:ext cx="586740" cy="4800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535" y="2630805"/>
            <a:ext cx="573405" cy="5397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9020" y="4234180"/>
            <a:ext cx="589915" cy="5226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82020" y="6538595"/>
            <a:ext cx="1092835" cy="31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1"/>
          <p:cNvSpPr/>
          <p:nvPr/>
        </p:nvSpPr>
        <p:spPr>
          <a:xfrm>
            <a:off x="3374390" y="2797175"/>
            <a:ext cx="6610985" cy="3987800"/>
          </a:xfrm>
          <a:prstGeom prst="roundRect">
            <a:avLst>
              <a:gd name="adj" fmla="val 0"/>
            </a:avLst>
          </a:prstGeom>
          <a:solidFill>
            <a:schemeClr val="tx1"/>
          </a:solidFill>
        </p:spPr>
      </p:sp>
      <p:sp>
        <p:nvSpPr>
          <p:cNvPr id="2" name="Shape 0"/>
          <p:cNvSpPr/>
          <p:nvPr/>
        </p:nvSpPr>
        <p:spPr>
          <a:xfrm>
            <a:off x="631908" y="195124"/>
            <a:ext cx="1031651" cy="240010"/>
          </a:xfrm>
          <a:prstGeom prst="roundRect">
            <a:avLst>
              <a:gd name="adj" fmla="val 7899"/>
            </a:avLst>
          </a:prstGeom>
          <a:solidFill>
            <a:srgbClr val="CEE1FD"/>
          </a:solidFill>
        </p:spPr>
      </p:sp>
      <p:sp>
        <p:nvSpPr>
          <p:cNvPr id="3" name="Text 1"/>
          <p:cNvSpPr/>
          <p:nvPr/>
        </p:nvSpPr>
        <p:spPr>
          <a:xfrm>
            <a:off x="726660" y="242451"/>
            <a:ext cx="1451732" cy="145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498237"/>
            <a:ext cx="10927878" cy="7170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Explore the Live Dashboard</a:t>
            </a:r>
            <a:endParaRPr lang="en-US" sz="4500" dirty="0"/>
          </a:p>
        </p:txBody>
      </p:sp>
      <p:sp>
        <p:nvSpPr>
          <p:cNvPr id="15" name="Text 10"/>
          <p:cNvSpPr/>
          <p:nvPr/>
        </p:nvSpPr>
        <p:spPr>
          <a:xfrm>
            <a:off x="631908" y="5025271"/>
            <a:ext cx="11537463" cy="189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1825" y="1278890"/>
            <a:ext cx="11319510" cy="1195705"/>
          </a:xfrm>
          <a:prstGeom prst="roundRect">
            <a:avLst>
              <a:gd name="adj" fmla="val 4167"/>
            </a:avLst>
          </a:prstGeom>
          <a:solidFill>
            <a:srgbClr val="B6D6FC"/>
          </a:solidFill>
        </p:spPr>
      </p:sp>
      <p:sp>
        <p:nvSpPr>
          <p:cNvPr id="18" name="Text 12"/>
          <p:cNvSpPr/>
          <p:nvPr/>
        </p:nvSpPr>
        <p:spPr>
          <a:xfrm>
            <a:off x="631825" y="1657985"/>
            <a:ext cx="10516235" cy="1528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altLang="en-US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pic>
        <p:nvPicPr>
          <p:cNvPr id="19" name="Picture 18" descr="Dashboard_Screensho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4180" y="2564765"/>
            <a:ext cx="6610985" cy="3949065"/>
          </a:xfrm>
          <a:prstGeom prst="rect">
            <a:avLst/>
          </a:prstGeom>
        </p:spPr>
      </p:pic>
      <p:sp>
        <p:nvSpPr>
          <p:cNvPr id="21" name="Text Box 20"/>
          <p:cNvSpPr txBox="1"/>
          <p:nvPr/>
        </p:nvSpPr>
        <p:spPr>
          <a:xfrm>
            <a:off x="650875" y="1423035"/>
            <a:ext cx="107772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🔗 Link</a:t>
            </a:r>
            <a:endParaRPr lang="en-US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  <a:hlinkClick r:id="rId2" tooltip="" action="ppaction://hlinkfile">
                  <a:extLst>
                    <a:ext uri="{DAF060AB-1E55-43B9-8AAB-6FB025537F2F}">
                      <wpsdc:hlinkClr xmlns:wpsdc="http://www.wps.cn/officeDocument/2017/drawingmlCustomData" val="073F92"/>
                      <wpsdc:folHlinkClr xmlns:wpsdc="http://www.wps.cn/officeDocument/2017/drawingmlCustomData" val="1F4E79"/>
                      <wpsdc:hlinkUnderline xmlns:wpsdc="http://www.wps.cn/officeDocument/2017/drawingmlCustomData" val="1"/>
                    </a:ext>
                  </a:extLst>
                </a:hlinkClick>
              </a:rPr>
              <a:t>https://public.tableau.com/app/profile/rojalin.pradhan/viz/Tourist_Arrivals_to_India_2019_2021/TouristArrivalstoIndia2019-2021?publish=yes</a:t>
            </a:r>
            <a:endParaRPr lang="en-US" altLang="en-US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170" y="6460490"/>
            <a:ext cx="141033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73F92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73F92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4013</Words>
  <Application>WPS Presentation</Application>
  <PresentationFormat>On-screen Show (16:9)</PresentationFormat>
  <Paragraphs>134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Arimo</vt:lpstr>
      <vt:lpstr>Arimo</vt:lpstr>
      <vt:lpstr>Arimo</vt:lpstr>
      <vt:lpstr>Anton</vt:lpstr>
      <vt:lpstr>Anton</vt:lpstr>
      <vt:lpstr>Anton</vt:lpstr>
      <vt:lpstr>Arimo Bold</vt:lpstr>
      <vt:lpstr>Arimo Bold</vt:lpstr>
      <vt:lpstr>Arimo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ROJALIN PRADHAN 25MCA026</cp:lastModifiedBy>
  <cp:revision>13</cp:revision>
  <dcterms:created xsi:type="dcterms:W3CDTF">2026-07-27T19:39:00Z</dcterms:created>
  <dcterms:modified xsi:type="dcterms:W3CDTF">2026-07-27T20:24:41Z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C6FCFB30B3EB4D8190897A77A512A0D5_13</vt:lpwstr>
  </property>
</Properties>
</file>